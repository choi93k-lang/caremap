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</p:sldIdLst>
  <p:sldSz cy="6858000" cx="12192000"/>
  <p:notesSz cx="6858000" cy="9144000"/>
  <p:embeddedFontLst>
    <p:embeddedFont>
      <p:font typeface="Noto Sans KR"/>
      <p:regular r:id="rId7"/>
      <p:bold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grYlOtBF4iKKwWOYItxh06eBhq9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font" Target="fonts/NotoSansKR-regular.fntdata"/><Relationship Id="rId8" Type="http://schemas.openxmlformats.org/officeDocument/2006/relationships/font" Target="fonts/NotoSansKR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과제의 목표, 수행 기간, 최종 제출물을 한 장에서 소개합니다. 표지 이미지는 생성형 이미지로 제작했습니다.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오른쪽 일정은 9월 28일부터 10월 2일까지의 예시 실행안입니다. 팀 상황과 데이터 확보 난이도에 맞게 조정할 수 있습니다.</a:t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526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"/>
          <p:cNvPicPr preferRelativeResize="0"/>
          <p:nvPr/>
        </p:nvPicPr>
        <p:blipFill rotWithShape="1">
          <a:blip r:embed="rId3">
            <a:alphaModFix/>
          </a:blip>
          <a:srcRect b="27" l="0" r="0" t="27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685800" y="1200150"/>
            <a:ext cx="561975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75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IoT 데이터를 활용한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75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인터랙티브 대시보드 구축</a:t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723900" y="3028950"/>
            <a:ext cx="5219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D9EAF2"/>
                </a:solidFill>
                <a:latin typeface="Noto Sans KR"/>
                <a:ea typeface="Noto Sans KR"/>
                <a:cs typeface="Noto Sans KR"/>
                <a:sym typeface="Noto Sans KR"/>
              </a:rPr>
              <a:t>공공에 도움이 되는 아이디어를 활용한 대시보드 또는 서비스 구축</a:t>
            </a:r>
            <a:endParaRPr/>
          </a:p>
        </p:txBody>
      </p:sp>
      <p:cxnSp>
        <p:nvCxnSpPr>
          <p:cNvPr id="19" name="Google Shape;19;p1"/>
          <p:cNvCxnSpPr/>
          <p:nvPr/>
        </p:nvCxnSpPr>
        <p:spPr>
          <a:xfrm>
            <a:off x="723900" y="4000500"/>
            <a:ext cx="3143250" cy="0"/>
          </a:xfrm>
          <a:prstGeom prst="straightConnector1">
            <a:avLst/>
          </a:prstGeom>
          <a:noFill/>
          <a:ln cap="flat" cmpd="sng" w="38100">
            <a:solidFill>
              <a:srgbClr val="21D4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1"/>
          <p:cNvSpPr/>
          <p:nvPr/>
        </p:nvSpPr>
        <p:spPr>
          <a:xfrm>
            <a:off x="723900" y="4305300"/>
            <a:ext cx="5905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21D4E6"/>
                </a:solidFill>
                <a:latin typeface="Noto Sans KR"/>
                <a:ea typeface="Noto Sans KR"/>
                <a:cs typeface="Noto Sans KR"/>
                <a:sym typeface="Noto Sans KR"/>
              </a:rPr>
              <a:t>기간</a:t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1371600" y="4276725"/>
            <a:ext cx="1619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9.28–10.2</a:t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723900" y="4810125"/>
            <a:ext cx="742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68E0B8"/>
                </a:solidFill>
                <a:latin typeface="Noto Sans KR"/>
                <a:ea typeface="Noto Sans KR"/>
                <a:cs typeface="Noto Sans KR"/>
                <a:sym typeface="Noto Sans KR"/>
              </a:rPr>
              <a:t>제출물</a:t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1524000" y="4772025"/>
            <a:ext cx="2952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Streamlit 주소 + 발표용 PPT</a:t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723900" y="685800"/>
            <a:ext cx="1809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1D4E6"/>
                </a:solidFill>
                <a:latin typeface="Noto Sans KR"/>
                <a:ea typeface="Noto Sans KR"/>
                <a:cs typeface="Noto Sans KR"/>
                <a:sym typeface="Noto Sans KR"/>
              </a:rPr>
              <a:t>PROJECT BRIEF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A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590550" y="400050"/>
            <a:ext cx="5905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25">
                <a:solidFill>
                  <a:srgbClr val="10243A"/>
                </a:solidFill>
                <a:latin typeface="Noto Sans KR"/>
                <a:ea typeface="Noto Sans KR"/>
                <a:cs typeface="Noto Sans KR"/>
                <a:sym typeface="Noto Sans KR"/>
              </a:rPr>
              <a:t>평가 기준과 구현 구조</a:t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609600" y="914400"/>
            <a:ext cx="7620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B6C7F"/>
                </a:solidFill>
                <a:latin typeface="Noto Sans KR"/>
                <a:ea typeface="Noto Sans KR"/>
                <a:cs typeface="Noto Sans KR"/>
                <a:sym typeface="Noto Sans KR"/>
              </a:rPr>
              <a:t>필수 조건을 먼저 완성하고, 가산점 자료로 설계의 타당성을 증명합니다</a:t>
            </a:r>
            <a:endParaRPr/>
          </a:p>
        </p:txBody>
      </p:sp>
      <p:cxnSp>
        <p:nvCxnSpPr>
          <p:cNvPr id="32" name="Google Shape;32;p2"/>
          <p:cNvCxnSpPr/>
          <p:nvPr/>
        </p:nvCxnSpPr>
        <p:spPr>
          <a:xfrm>
            <a:off x="609600" y="1543050"/>
            <a:ext cx="0" cy="1710600"/>
          </a:xfrm>
          <a:prstGeom prst="straightConnector1">
            <a:avLst/>
          </a:prstGeom>
          <a:noFill/>
          <a:ln cap="flat" cmpd="sng" w="57150">
            <a:solidFill>
              <a:srgbClr val="21D4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" name="Google Shape;33;p2"/>
          <p:cNvSpPr/>
          <p:nvPr/>
        </p:nvSpPr>
        <p:spPr>
          <a:xfrm>
            <a:off x="800100" y="1428750"/>
            <a:ext cx="4000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0243A"/>
                </a:solidFill>
                <a:latin typeface="Noto Sans KR"/>
                <a:ea typeface="Noto Sans KR"/>
                <a:cs typeface="Noto Sans KR"/>
                <a:sym typeface="Noto Sans KR"/>
              </a:rPr>
              <a:t>필수 요구사항</a:t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800100" y="1885950"/>
            <a:ext cx="4095750" cy="184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0243A"/>
              </a:buClr>
              <a:buSzPts val="1538"/>
              <a:buFont typeface="Noto Sans KR"/>
              <a:buChar char="•"/>
            </a:pPr>
            <a:r>
              <a:rPr lang="en-US" sz="1538">
                <a:solidFill>
                  <a:srgbClr val="10243A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분석 및 정리</a:t>
            </a:r>
            <a:endParaRPr/>
          </a:p>
          <a:p>
            <a:pPr indent="-114300" lvl="0" marL="228600" marR="0" rtl="0" algn="l">
              <a:spcBef>
                <a:spcPts val="900"/>
              </a:spcBef>
              <a:spcAft>
                <a:spcPts val="0"/>
              </a:spcAft>
              <a:buClr>
                <a:srgbClr val="10243A"/>
              </a:buClr>
              <a:buSzPts val="1538"/>
              <a:buFont typeface="Noto Sans KR"/>
              <a:buChar char="•"/>
            </a:pPr>
            <a:r>
              <a:rPr lang="en-US" sz="1538">
                <a:solidFill>
                  <a:srgbClr val="10243A"/>
                </a:solidFill>
                <a:latin typeface="Noto Sans KR"/>
                <a:ea typeface="Noto Sans KR"/>
                <a:cs typeface="Noto Sans KR"/>
                <a:sym typeface="Noto Sans KR"/>
              </a:rPr>
              <a:t>DB 구축 (로컬·클라우드 가능)</a:t>
            </a:r>
            <a:endParaRPr/>
          </a:p>
          <a:p>
            <a:pPr indent="-114300" lvl="0" marL="228600" marR="0" rtl="0" algn="l">
              <a:spcBef>
                <a:spcPts val="900"/>
              </a:spcBef>
              <a:spcAft>
                <a:spcPts val="0"/>
              </a:spcAft>
              <a:buClr>
                <a:srgbClr val="10243A"/>
              </a:buClr>
              <a:buSzPts val="1538"/>
              <a:buFont typeface="Noto Sans KR"/>
              <a:buChar char="•"/>
            </a:pPr>
            <a:r>
              <a:rPr lang="en-US" sz="1538">
                <a:solidFill>
                  <a:srgbClr val="10243A"/>
                </a:solidFill>
                <a:latin typeface="Noto Sans KR"/>
                <a:ea typeface="Noto Sans KR"/>
                <a:cs typeface="Noto Sans KR"/>
                <a:sym typeface="Noto Sans KR"/>
              </a:rPr>
              <a:t>Streamlit 대시보드 (st.App 방식)</a:t>
            </a:r>
            <a:endParaRPr/>
          </a:p>
          <a:p>
            <a:pPr indent="-114300" lvl="0" marL="228600" marR="0" rtl="0" algn="l">
              <a:spcBef>
                <a:spcPts val="900"/>
              </a:spcBef>
              <a:spcAft>
                <a:spcPts val="0"/>
              </a:spcAft>
              <a:buClr>
                <a:srgbClr val="10243A"/>
              </a:buClr>
              <a:buSzPts val="1538"/>
              <a:buFont typeface="Noto Sans KR"/>
              <a:buChar char="•"/>
            </a:pPr>
            <a:r>
              <a:rPr lang="en-US" sz="1538">
                <a:solidFill>
                  <a:srgbClr val="10243A"/>
                </a:solidFill>
                <a:latin typeface="Noto Sans KR"/>
                <a:ea typeface="Noto Sans KR"/>
                <a:cs typeface="Noto Sans KR"/>
                <a:sym typeface="Noto Sans KR"/>
              </a:rPr>
              <a:t>GitHub를 활용한 프로젝트 공유</a:t>
            </a:r>
            <a:endParaRPr/>
          </a:p>
        </p:txBody>
      </p:sp>
      <p:cxnSp>
        <p:nvCxnSpPr>
          <p:cNvPr id="35" name="Google Shape;35;p2"/>
          <p:cNvCxnSpPr/>
          <p:nvPr/>
        </p:nvCxnSpPr>
        <p:spPr>
          <a:xfrm>
            <a:off x="609600" y="3943350"/>
            <a:ext cx="0" cy="1809300"/>
          </a:xfrm>
          <a:prstGeom prst="straightConnector1">
            <a:avLst/>
          </a:prstGeom>
          <a:noFill/>
          <a:ln cap="flat" cmpd="sng" w="57150">
            <a:solidFill>
              <a:srgbClr val="68E0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2"/>
          <p:cNvSpPr/>
          <p:nvPr/>
        </p:nvSpPr>
        <p:spPr>
          <a:xfrm>
            <a:off x="800100" y="3829050"/>
            <a:ext cx="4000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0243A"/>
                </a:solidFill>
                <a:latin typeface="Noto Sans KR"/>
                <a:ea typeface="Noto Sans KR"/>
                <a:cs typeface="Noto Sans KR"/>
                <a:sym typeface="Noto Sans KR"/>
              </a:rPr>
              <a:t>가산점</a:t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800100" y="4286250"/>
            <a:ext cx="419100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0243A"/>
              </a:buClr>
              <a:buSzPts val="1463"/>
              <a:buFont typeface="Noto Sans KR"/>
              <a:buChar char="•"/>
            </a:pPr>
            <a:r>
              <a:rPr lang="en-US" sz="1463">
                <a:solidFill>
                  <a:srgbClr val="10243A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분석의 타당성과 신뢰성</a:t>
            </a:r>
            <a:endParaRPr/>
          </a:p>
          <a:p>
            <a:pPr indent="-114300" lvl="0" marL="228600" marR="0" rtl="0" algn="l">
              <a:spcBef>
                <a:spcPts val="700"/>
              </a:spcBef>
              <a:spcAft>
                <a:spcPts val="0"/>
              </a:spcAft>
              <a:buClr>
                <a:srgbClr val="10243A"/>
              </a:buClr>
              <a:buSzPts val="1463"/>
              <a:buFont typeface="Noto Sans KR"/>
              <a:buChar char="•"/>
            </a:pPr>
            <a:r>
              <a:rPr lang="en-US" sz="1463">
                <a:solidFill>
                  <a:srgbClr val="10243A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데이터베이스 스키마 관계도 (ERD)</a:t>
            </a:r>
            <a:endParaRPr/>
          </a:p>
          <a:p>
            <a:pPr indent="-114300" lvl="0" marL="228600" marR="0" rtl="0" algn="l">
              <a:spcBef>
                <a:spcPts val="700"/>
              </a:spcBef>
              <a:spcAft>
                <a:spcPts val="0"/>
              </a:spcAft>
              <a:buClr>
                <a:srgbClr val="10243A"/>
              </a:buClr>
              <a:buSzPts val="1463"/>
              <a:buFont typeface="Noto Sans KR"/>
              <a:buChar char="•"/>
            </a:pPr>
            <a:r>
              <a:rPr lang="en-US" sz="1463">
                <a:solidFill>
                  <a:srgbClr val="10243A"/>
                </a:solidFill>
                <a:latin typeface="Noto Sans KR"/>
                <a:ea typeface="Noto Sans KR"/>
                <a:cs typeface="Noto Sans KR"/>
                <a:sym typeface="Noto Sans KR"/>
              </a:rPr>
              <a:t>요구사항·기능 명세서, 사용자 흐름도 등의 시스템 아키텍처 시각화</a:t>
            </a:r>
            <a:endParaRPr/>
          </a:p>
          <a:p>
            <a:pPr indent="-114300" lvl="0" marL="228600" marR="0" rtl="0" algn="l">
              <a:spcBef>
                <a:spcPts val="700"/>
              </a:spcBef>
              <a:spcAft>
                <a:spcPts val="0"/>
              </a:spcAft>
              <a:buClr>
                <a:srgbClr val="10243A"/>
              </a:buClr>
              <a:buSzPts val="1463"/>
              <a:buFont typeface="Noto Sans KR"/>
              <a:buChar char="•"/>
            </a:pPr>
            <a:r>
              <a:rPr lang="en-US" sz="1463">
                <a:solidFill>
                  <a:srgbClr val="10243A"/>
                </a:solidFill>
                <a:latin typeface="Noto Sans KR"/>
                <a:ea typeface="Noto Sans KR"/>
                <a:cs typeface="Noto Sans KR"/>
                <a:sym typeface="Noto Sans KR"/>
              </a:rPr>
              <a:t>WBS, 간트차트 작성</a:t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5524500" y="1466850"/>
            <a:ext cx="60007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0243A"/>
                </a:solidFill>
                <a:latin typeface="Noto Sans KR"/>
                <a:ea typeface="Noto Sans KR"/>
                <a:cs typeface="Noto Sans KR"/>
                <a:sym typeface="Noto Sans KR"/>
              </a:rPr>
              <a:t>권장 구현 구조</a:t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5524500" y="2038350"/>
            <a:ext cx="1295400" cy="781050"/>
          </a:xfrm>
          <a:prstGeom prst="roundRect">
            <a:avLst>
              <a:gd fmla="val 17073" name="adj"/>
            </a:avLst>
          </a:prstGeom>
          <a:solidFill>
            <a:srgbClr val="E4F9FC"/>
          </a:solidFill>
          <a:ln cap="flat" cmpd="sng" w="9525">
            <a:solidFill>
              <a:srgbClr val="E4F9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10243A"/>
                </a:solidFill>
                <a:latin typeface="Noto Sans KR"/>
                <a:ea typeface="Noto Sans KR"/>
                <a:cs typeface="Noto Sans KR"/>
                <a:sym typeface="Noto Sans KR"/>
              </a:rPr>
              <a:t>IoT·공공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10243A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</a:t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7058025" y="2038350"/>
            <a:ext cx="1295400" cy="781050"/>
          </a:xfrm>
          <a:prstGeom prst="roundRect">
            <a:avLst>
              <a:gd fmla="val 17073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0243A"/>
                </a:solidFill>
                <a:latin typeface="Noto Sans KR"/>
                <a:ea typeface="Noto Sans KR"/>
                <a:cs typeface="Noto Sans KR"/>
                <a:sym typeface="Noto Sans KR"/>
              </a:rPr>
              <a:t>정제·분석</a:t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8591550" y="2038350"/>
            <a:ext cx="1295400" cy="781050"/>
          </a:xfrm>
          <a:prstGeom prst="roundRect">
            <a:avLst>
              <a:gd fmla="val 17073" name="adj"/>
            </a:avLst>
          </a:prstGeom>
          <a:solidFill>
            <a:srgbClr val="E9FAF4"/>
          </a:solidFill>
          <a:ln cap="flat" cmpd="sng" w="9525">
            <a:solidFill>
              <a:srgbClr val="E9FA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0243A"/>
                </a:solidFill>
                <a:latin typeface="Noto Sans KR"/>
                <a:ea typeface="Noto Sans KR"/>
                <a:cs typeface="Noto Sans KR"/>
                <a:sym typeface="Noto Sans KR"/>
              </a:rPr>
              <a:t>DB·ERD</a:t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10125075" y="2038350"/>
            <a:ext cx="1295400" cy="781050"/>
          </a:xfrm>
          <a:prstGeom prst="roundRect">
            <a:avLst>
              <a:gd fmla="val 17073" name="adj"/>
            </a:avLst>
          </a:prstGeom>
          <a:solidFill>
            <a:srgbClr val="061526"/>
          </a:solidFill>
          <a:ln cap="flat" cmpd="sng" w="9525">
            <a:solidFill>
              <a:srgbClr val="0615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Streamlit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st.App</a:t>
            </a:r>
            <a:endParaRPr/>
          </a:p>
        </p:txBody>
      </p:sp>
      <p:cxnSp>
        <p:nvCxnSpPr>
          <p:cNvPr id="43" name="Google Shape;43;p2"/>
          <p:cNvCxnSpPr>
            <a:stCxn id="39" idx="3"/>
            <a:endCxn id="40" idx="1"/>
          </p:cNvCxnSpPr>
          <p:nvPr/>
        </p:nvCxnSpPr>
        <p:spPr>
          <a:xfrm>
            <a:off x="6819900" y="2428875"/>
            <a:ext cx="238200" cy="0"/>
          </a:xfrm>
          <a:prstGeom prst="straightConnector1">
            <a:avLst/>
          </a:prstGeom>
          <a:noFill/>
          <a:ln cap="flat" cmpd="sng" w="28575">
            <a:solidFill>
              <a:srgbClr val="21D4E6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4" name="Google Shape;44;p2"/>
          <p:cNvCxnSpPr>
            <a:stCxn id="40" idx="3"/>
            <a:endCxn id="41" idx="1"/>
          </p:cNvCxnSpPr>
          <p:nvPr/>
        </p:nvCxnSpPr>
        <p:spPr>
          <a:xfrm>
            <a:off x="8353425" y="2428875"/>
            <a:ext cx="238200" cy="0"/>
          </a:xfrm>
          <a:prstGeom prst="straightConnector1">
            <a:avLst/>
          </a:prstGeom>
          <a:noFill/>
          <a:ln cap="flat" cmpd="sng" w="28575">
            <a:solidFill>
              <a:srgbClr val="21D4E6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5" name="Google Shape;45;p2"/>
          <p:cNvCxnSpPr>
            <a:stCxn id="41" idx="3"/>
            <a:endCxn id="42" idx="1"/>
          </p:cNvCxnSpPr>
          <p:nvPr/>
        </p:nvCxnSpPr>
        <p:spPr>
          <a:xfrm>
            <a:off x="9886950" y="2428875"/>
            <a:ext cx="238200" cy="0"/>
          </a:xfrm>
          <a:prstGeom prst="straightConnector1">
            <a:avLst/>
          </a:prstGeom>
          <a:noFill/>
          <a:ln cap="flat" cmpd="sng" w="28575">
            <a:solidFill>
              <a:srgbClr val="21D4E6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46" name="Google Shape;46;p2"/>
          <p:cNvSpPr/>
          <p:nvPr/>
        </p:nvSpPr>
        <p:spPr>
          <a:xfrm>
            <a:off x="5524500" y="2952750"/>
            <a:ext cx="5905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B6C7F"/>
                </a:solidFill>
                <a:latin typeface="Noto Sans KR"/>
                <a:ea typeface="Noto Sans KR"/>
                <a:cs typeface="Noto Sans KR"/>
                <a:sym typeface="Noto Sans KR"/>
              </a:rPr>
              <a:t>수집 근거와 품질 기준을 남기고, 사용자 흐름까지 설명하면 발표의 설득력이 높아집니다</a:t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5524500" y="3676650"/>
            <a:ext cx="60007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0243A"/>
                </a:solidFill>
                <a:latin typeface="Noto Sans KR"/>
                <a:ea typeface="Noto Sans KR"/>
                <a:cs typeface="Noto Sans KR"/>
                <a:sym typeface="Noto Sans KR"/>
              </a:rPr>
              <a:t>5일 권장 일정</a:t>
            </a:r>
            <a:endParaRPr/>
          </a:p>
        </p:txBody>
      </p:sp>
      <p:cxnSp>
        <p:nvCxnSpPr>
          <p:cNvPr id="48" name="Google Shape;48;p2"/>
          <p:cNvCxnSpPr/>
          <p:nvPr/>
        </p:nvCxnSpPr>
        <p:spPr>
          <a:xfrm>
            <a:off x="5753100" y="4429125"/>
            <a:ext cx="5286375" cy="0"/>
          </a:xfrm>
          <a:prstGeom prst="straightConnector1">
            <a:avLst/>
          </a:prstGeom>
          <a:noFill/>
          <a:ln cap="flat" cmpd="sng" w="28575">
            <a:solidFill>
              <a:srgbClr val="D7E1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2"/>
          <p:cNvSpPr/>
          <p:nvPr/>
        </p:nvSpPr>
        <p:spPr>
          <a:xfrm>
            <a:off x="5676900" y="4343400"/>
            <a:ext cx="171450" cy="171450"/>
          </a:xfrm>
          <a:prstGeom prst="ellipse">
            <a:avLst/>
          </a:prstGeom>
          <a:solidFill>
            <a:srgbClr val="21D4E6"/>
          </a:solidFill>
          <a:ln cap="flat" cmpd="sng" w="28575">
            <a:solidFill>
              <a:srgbClr val="F5F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5410200" y="4629150"/>
            <a:ext cx="723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0243A"/>
                </a:solidFill>
                <a:latin typeface="Noto Sans KR"/>
                <a:ea typeface="Noto Sans KR"/>
                <a:cs typeface="Noto Sans KR"/>
                <a:sym typeface="Noto Sans KR"/>
              </a:rPr>
              <a:t>9.28</a:t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5257800" y="4953000"/>
            <a:ext cx="102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5B6C7F"/>
                </a:solidFill>
                <a:latin typeface="Noto Sans KR"/>
                <a:ea typeface="Noto Sans KR"/>
                <a:cs typeface="Noto Sans KR"/>
                <a:sym typeface="Noto Sans KR"/>
              </a:rPr>
              <a:t>주제·데이터</a:t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7000875" y="4343400"/>
            <a:ext cx="171450" cy="171450"/>
          </a:xfrm>
          <a:prstGeom prst="ellipse">
            <a:avLst/>
          </a:prstGeom>
          <a:solidFill>
            <a:srgbClr val="21D4E6"/>
          </a:solidFill>
          <a:ln cap="flat" cmpd="sng" w="28575">
            <a:solidFill>
              <a:srgbClr val="F5F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6734175" y="4629150"/>
            <a:ext cx="723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0243A"/>
                </a:solidFill>
                <a:latin typeface="Noto Sans KR"/>
                <a:ea typeface="Noto Sans KR"/>
                <a:cs typeface="Noto Sans KR"/>
                <a:sym typeface="Noto Sans KR"/>
              </a:rPr>
              <a:t>9.29</a:t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6581775" y="4953000"/>
            <a:ext cx="102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5B6C7F"/>
                </a:solidFill>
                <a:latin typeface="Noto Sans KR"/>
                <a:ea typeface="Noto Sans KR"/>
                <a:cs typeface="Noto Sans KR"/>
                <a:sym typeface="Noto Sans KR"/>
              </a:rPr>
              <a:t>정제·분석</a:t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8324850" y="4343400"/>
            <a:ext cx="171450" cy="171450"/>
          </a:xfrm>
          <a:prstGeom prst="ellipse">
            <a:avLst/>
          </a:prstGeom>
          <a:solidFill>
            <a:srgbClr val="21D4E6"/>
          </a:solidFill>
          <a:ln cap="flat" cmpd="sng" w="28575">
            <a:solidFill>
              <a:srgbClr val="F5F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8058150" y="4629150"/>
            <a:ext cx="723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0243A"/>
                </a:solidFill>
                <a:latin typeface="Noto Sans KR"/>
                <a:ea typeface="Noto Sans KR"/>
                <a:cs typeface="Noto Sans KR"/>
                <a:sym typeface="Noto Sans KR"/>
              </a:rPr>
              <a:t>9.30</a:t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7905750" y="4953000"/>
            <a:ext cx="102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5B6C7F"/>
                </a:solidFill>
                <a:latin typeface="Noto Sans KR"/>
                <a:ea typeface="Noto Sans KR"/>
                <a:cs typeface="Noto Sans KR"/>
                <a:sym typeface="Noto Sans KR"/>
              </a:rPr>
              <a:t>DB·ERD</a:t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9648825" y="4343400"/>
            <a:ext cx="171450" cy="171450"/>
          </a:xfrm>
          <a:prstGeom prst="ellipse">
            <a:avLst/>
          </a:prstGeom>
          <a:solidFill>
            <a:srgbClr val="21D4E6"/>
          </a:solidFill>
          <a:ln cap="flat" cmpd="sng" w="28575">
            <a:solidFill>
              <a:srgbClr val="F5F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9382125" y="4629150"/>
            <a:ext cx="723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0243A"/>
                </a:solidFill>
                <a:latin typeface="Noto Sans KR"/>
                <a:ea typeface="Noto Sans KR"/>
                <a:cs typeface="Noto Sans KR"/>
                <a:sym typeface="Noto Sans KR"/>
              </a:rPr>
              <a:t>10.1</a:t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9229725" y="4953000"/>
            <a:ext cx="102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5B6C7F"/>
                </a:solidFill>
                <a:latin typeface="Noto Sans KR"/>
                <a:ea typeface="Noto Sans KR"/>
                <a:cs typeface="Noto Sans KR"/>
                <a:sym typeface="Noto Sans KR"/>
              </a:rPr>
              <a:t>Streamlit</a:t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10972800" y="4343400"/>
            <a:ext cx="171450" cy="171450"/>
          </a:xfrm>
          <a:prstGeom prst="ellipse">
            <a:avLst/>
          </a:prstGeom>
          <a:solidFill>
            <a:srgbClr val="68E0B8"/>
          </a:solidFill>
          <a:ln cap="flat" cmpd="sng" w="28575">
            <a:solidFill>
              <a:srgbClr val="F5F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10706100" y="4629150"/>
            <a:ext cx="723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0243A"/>
                </a:solidFill>
                <a:latin typeface="Noto Sans KR"/>
                <a:ea typeface="Noto Sans KR"/>
                <a:cs typeface="Noto Sans KR"/>
                <a:sym typeface="Noto Sans KR"/>
              </a:rPr>
              <a:t>10.2</a:t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10553700" y="4953000"/>
            <a:ext cx="102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5B6C7F"/>
                </a:solidFill>
                <a:latin typeface="Noto Sans KR"/>
                <a:ea typeface="Noto Sans KR"/>
                <a:cs typeface="Noto Sans KR"/>
                <a:sym typeface="Noto Sans KR"/>
              </a:rPr>
              <a:t>검증·발표</a:t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5524500" y="5781675"/>
            <a:ext cx="5886450" cy="514350"/>
          </a:xfrm>
          <a:prstGeom prst="roundRect">
            <a:avLst>
              <a:gd fmla="val 25926" name="adj"/>
            </a:avLst>
          </a:prstGeom>
          <a:solidFill>
            <a:srgbClr val="061526"/>
          </a:solidFill>
          <a:ln cap="flat" cmpd="sng" w="9525">
            <a:solidFill>
              <a:srgbClr val="0615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제출  Streamlit 주소 + 발표용 PPT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